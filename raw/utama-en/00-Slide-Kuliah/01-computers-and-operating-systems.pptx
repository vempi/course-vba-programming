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922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mpi Satriya" userId="c28fa87cdebdc656" providerId="LiveId" clId="{63E91B12-6D81-43DC-90EF-03735CFC9BF7}"/>
    <pc:docChg chg="undo custSel addSld delSld modSld sldOrd">
      <pc:chgData name="Vempi Satriya" userId="c28fa87cdebdc656" providerId="LiveId" clId="{63E91B12-6D81-43DC-90EF-03735CFC9BF7}" dt="2026-08-26T21:59:42.415" v="854" actId="1076"/>
      <pc:docMkLst>
        <pc:docMk/>
      </pc:docMkLst>
      <pc:sldChg chg="addSp delSp modSp del mod">
        <pc:chgData name="Vempi Satriya" userId="c28fa87cdebdc656" providerId="LiveId" clId="{63E91B12-6D81-43DC-90EF-03735CFC9BF7}" dt="2026-08-26T21:59:42.415" v="854" actId="1076"/>
        <pc:sldMkLst>
          <pc:docMk/>
          <pc:sldMk cId="0" sldId="256"/>
        </pc:sldMkLst>
        <pc:spChg chg="mod">
          <ac:chgData name="Vempi Satriya" userId="c28fa87cdebdc656" providerId="LiveId" clId="{63E91B12-6D81-43DC-90EF-03735CFC9BF7}" dt="2026-08-26T21:59:42.415" v="854" actId="1076"/>
          <ac:spMkLst>
            <pc:docMk/>
            <pc:sldMk cId="0" sldId="256"/>
            <ac:spMk id="2" creationId="{00000000-0000-0000-0000-000000000000}"/>
          </ac:spMkLst>
        </pc:spChg>
        <pc:spChg chg="add del">
          <ac:chgData name="Vempi Satriya" userId="c28fa87cdebdc656" providerId="LiveId" clId="{63E91B12-6D81-43DC-90EF-03735CFC9BF7}" dt="2026-08-26T21:59:39.745" v="853" actId="22"/>
          <ac:spMkLst>
            <pc:docMk/>
            <pc:sldMk cId="0" sldId="256"/>
            <ac:spMk id="8" creationId="{C8B9DF3D-EAAF-4E54-8009-9FB396177C30}"/>
          </ac:spMkLst>
        </pc:spChg>
      </pc:sldChg>
      <pc:sldChg chg="addSp delSp modSp add del mod">
        <pc:chgData name="Vempi Satriya" userId="c28fa87cdebdc656" providerId="LiveId" clId="{63E91B12-6D81-43DC-90EF-03735CFC9BF7}" dt="2026-08-22T23:50:29.627" v="213" actId="47"/>
        <pc:sldMkLst>
          <pc:docMk/>
          <pc:sldMk cId="0" sldId="257"/>
        </pc:sldMkLst>
        <pc:spChg chg="mod">
          <ac:chgData name="Vempi Satriya" userId="c28fa87cdebdc656" providerId="LiveId" clId="{63E91B12-6D81-43DC-90EF-03735CFC9BF7}" dt="2026-08-22T23:50:08.577" v="207" actId="21"/>
          <ac:spMkLst>
            <pc:docMk/>
            <pc:sldMk cId="0" sldId="257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add del mod ord">
        <pc:chgData name="Vempi Satriya" userId="c28fa87cdebdc656" providerId="LiveId" clId="{63E91B12-6D81-43DC-90EF-03735CFC9BF7}" dt="2026-08-22T23:54:10.580" v="288" actId="47"/>
        <pc:sldMkLst>
          <pc:docMk/>
          <pc:sldMk cId="0" sldId="258"/>
        </pc:sldMkLst>
        <pc:spChg chg="del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59"/>
        </pc:sldMkLst>
        <pc:spChg chg="del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60"/>
        </pc:sldMkLst>
        <pc:spChg chg="del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3" creationId="{00000000-0000-0000-0000-000000000000}"/>
          </ac:spMkLst>
        </pc:spChg>
      </pc:sldChg>
      <pc:sldChg chg="addSp delSp modSp add del mod">
        <pc:chgData name="Vempi Satriya" userId="c28fa87cdebdc656" providerId="LiveId" clId="{63E91B12-6D81-43DC-90EF-03735CFC9BF7}" dt="2026-08-22T23:54:10.580" v="288" actId="47"/>
        <pc:sldMkLst>
          <pc:docMk/>
          <pc:sldMk cId="0" sldId="262"/>
        </pc:sldMkLst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3" creationId="{00000000-0000-0000-0000-000000000000}"/>
          </ac:spMkLst>
        </pc:spChg>
      </pc:sldChg>
      <pc:sldChg chg="addSp delSp modSp add del mod">
        <pc:chgData name="Vempi Satriya" userId="c28fa87cdebdc656" providerId="LiveId" clId="{63E91B12-6D81-43DC-90EF-03735CFC9BF7}" dt="2026-08-22T23:54:54.513" v="305" actId="47"/>
        <pc:sldMkLst>
          <pc:docMk/>
          <pc:sldMk cId="0" sldId="263"/>
        </pc:sldMkLst>
        <pc:spChg chg="del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3" creationId="{00000000-0000-0000-0000-000000000000}"/>
          </ac:spMkLst>
        </pc:spChg>
      </pc:sldChg>
      <pc:sldChg chg="delSp modSp add del mod">
        <pc:chgData name="Vempi Satriya" userId="c28fa87cdebdc656" providerId="LiveId" clId="{63E91B12-6D81-43DC-90EF-03735CFC9BF7}" dt="2026-08-22T23:56:07.941" v="318" actId="47"/>
        <pc:sldMkLst>
          <pc:docMk/>
          <pc:sldMk cId="0" sldId="264"/>
        </pc:sldMkLst>
      </pc:sldChg>
      <pc:sldChg chg="addSp delSp modSp add del mod">
        <pc:chgData name="Vempi Satriya" userId="c28fa87cdebdc656" providerId="LiveId" clId="{63E91B12-6D81-43DC-90EF-03735CFC9BF7}" dt="2026-08-23T17:26:28.223" v="846"/>
        <pc:sldMkLst>
          <pc:docMk/>
          <pc:sldMk cId="0" sldId="265"/>
        </pc:sldMkLst>
        <pc:spChg chg="del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3" creationId="{00000000-0000-0000-0000-000000000000}"/>
          </ac:spMkLst>
        </pc:sp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6"/>
        </pc:sldMkLst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3" creationId="{00000000-0000-0000-0000-000000000000}"/>
          </ac:spMkLst>
        </pc:spChg>
      </pc:sldChg>
      <pc:sldChg chg="addSp delSp modSp add del mod">
        <pc:chgData name="Vempi Satriya" userId="c28fa87cdebdc656" providerId="LiveId" clId="{63E91B12-6D81-43DC-90EF-03735CFC9BF7}" dt="2026-08-22T23:57:32.455" v="348" actId="47"/>
        <pc:sldMkLst>
          <pc:docMk/>
          <pc:sldMk cId="0" sldId="268"/>
        </pc:sldMkLst>
        <pc:spChg chg="del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3" creationId="{00000000-0000-0000-0000-000000000000}"/>
          </ac:spMkLst>
        </pc:sp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9"/>
        </pc:sldMkLst>
        <pc:spChg chg="del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3" creationId="{00000000-0000-0000-0000-000000000000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0"/>
        </pc:sldMkLst>
        <pc:spChg chg="del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8AAE6-B219-4749-AA81-4CD678541CF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ABBAA-8C87-47E5-8B19-4FB38AE7F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1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4D40FE-9DE6-7102-8503-4202191186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5410"/>
          <a:stretch/>
        </p:blipFill>
        <p:spPr>
          <a:xfrm>
            <a:off x="-3" y="1527802"/>
            <a:ext cx="9144003" cy="23174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0551" y="937549"/>
            <a:ext cx="7116536" cy="454028"/>
          </a:xfrm>
        </p:spPr>
        <p:txBody>
          <a:bodyPr anchor="t">
            <a:noAutofit/>
          </a:bodyPr>
          <a:lstStyle>
            <a:lvl1pPr algn="l">
              <a:defRPr sz="2700" b="1" cap="none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8"/>
          <p:cNvSpPr txBox="1">
            <a:spLocks/>
          </p:cNvSpPr>
          <p:nvPr userDrawn="1"/>
        </p:nvSpPr>
        <p:spPr>
          <a:xfrm>
            <a:off x="1352549" y="7507567"/>
            <a:ext cx="3086100" cy="213122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IELP Meeting</a:t>
            </a:r>
            <a:b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altLang="zh-CN" sz="900">
                <a:solidFill>
                  <a:schemeClr val="accent3">
                    <a:lumMod val="20000"/>
                    <a:lumOff val="80000"/>
                  </a:schemeClr>
                </a:solidFill>
              </a:rPr>
              <a:t>20 June 2019</a:t>
            </a:r>
            <a:endParaRPr lang="en-ID" sz="90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4" name="Google Shape;4293;p58"/>
          <p:cNvGrpSpPr/>
          <p:nvPr userDrawn="1"/>
        </p:nvGrpSpPr>
        <p:grpSpPr>
          <a:xfrm>
            <a:off x="714273" y="4651408"/>
            <a:ext cx="203572" cy="206342"/>
            <a:chOff x="1529350" y="258825"/>
            <a:chExt cx="423475" cy="481825"/>
          </a:xfrm>
          <a:solidFill>
            <a:srgbClr val="607796"/>
          </a:solidFill>
        </p:grpSpPr>
        <p:sp>
          <p:nvSpPr>
            <p:cNvPr id="15" name="Google Shape;4294;p58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17" name="Google Shape;4295;p58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4324;p58"/>
          <p:cNvGrpSpPr/>
          <p:nvPr userDrawn="1"/>
        </p:nvGrpSpPr>
        <p:grpSpPr>
          <a:xfrm>
            <a:off x="713466" y="4440587"/>
            <a:ext cx="203572" cy="187961"/>
            <a:chOff x="5660400" y="238125"/>
            <a:chExt cx="481825" cy="481825"/>
          </a:xfrm>
          <a:solidFill>
            <a:srgbClr val="607796"/>
          </a:solidFill>
        </p:grpSpPr>
        <p:sp>
          <p:nvSpPr>
            <p:cNvPr id="19" name="Google Shape;4325;p58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20" name="Google Shape;4326;p58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1094994" y="4613464"/>
            <a:ext cx="7620743" cy="278315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4"/>
          </p:nvPr>
        </p:nvSpPr>
        <p:spPr>
          <a:xfrm>
            <a:off x="1094994" y="4425157"/>
            <a:ext cx="3129534" cy="282316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590550" y="3954863"/>
            <a:ext cx="6673848" cy="48960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590551" y="1428859"/>
            <a:ext cx="5936391" cy="783779"/>
          </a:xfrm>
          <a:prstGeom prst="rect">
            <a:avLst/>
          </a:prstGeom>
          <a:solidFill>
            <a:srgbClr val="495A73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700279" y="1557394"/>
            <a:ext cx="5601081" cy="57316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9400FE-9B94-751F-6B11-322CBFE38E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5" r="75306" b="70377"/>
          <a:stretch/>
        </p:blipFill>
        <p:spPr>
          <a:xfrm>
            <a:off x="7707087" y="-2116"/>
            <a:ext cx="1226311" cy="12608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92DCE6-4871-E867-5789-1D3EE9695E7D}"/>
              </a:ext>
            </a:extLst>
          </p:cNvPr>
          <p:cNvSpPr/>
          <p:nvPr userDrawn="1"/>
        </p:nvSpPr>
        <p:spPr>
          <a:xfrm>
            <a:off x="590550" y="1433230"/>
            <a:ext cx="5943184" cy="9457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14391-5A90-2335-C85E-DDDCB594DD7F}"/>
              </a:ext>
            </a:extLst>
          </p:cNvPr>
          <p:cNvSpPr/>
          <p:nvPr userDrawn="1"/>
        </p:nvSpPr>
        <p:spPr>
          <a:xfrm>
            <a:off x="590548" y="1433481"/>
            <a:ext cx="5097782" cy="943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</p:spTree>
    <p:extLst>
      <p:ext uri="{BB962C8B-B14F-4D97-AF65-F5344CB8AC3E}">
        <p14:creationId xmlns:p14="http://schemas.microsoft.com/office/powerpoint/2010/main" val="291206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983182"/>
            <a:ext cx="7886700" cy="138499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90579"/>
            <a:ext cx="7886700" cy="617764"/>
          </a:xfrm>
        </p:spPr>
        <p:txBody>
          <a:bodyPr anchor="b">
            <a:normAutofit/>
          </a:bodyPr>
          <a:lstStyle>
            <a:lvl1pPr marL="0" indent="0">
              <a:buNone/>
              <a:defRPr sz="2700" b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722376" y="290577"/>
            <a:ext cx="743078" cy="552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18" name="Rectangle 17"/>
          <p:cNvSpPr/>
          <p:nvPr userDrawn="1"/>
        </p:nvSpPr>
        <p:spPr>
          <a:xfrm>
            <a:off x="1465453" y="290829"/>
            <a:ext cx="326771" cy="561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21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8659986" y="4729081"/>
            <a:ext cx="522115" cy="323165"/>
          </a:xfrm>
        </p:spPr>
        <p:txBody>
          <a:bodyPr/>
          <a:lstStyle>
            <a:lvl1pPr algn="l">
              <a:defRPr sz="2100">
                <a:solidFill>
                  <a:schemeClr val="tx2"/>
                </a:solidFill>
              </a:defRPr>
            </a:lvl1pPr>
          </a:lstStyle>
          <a:p>
            <a:fld id="{2771D21B-5661-4637-BBCE-7AFA0763745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/>
          <p:cNvCxnSpPr>
            <a:cxnSpLocks/>
          </p:cNvCxnSpPr>
          <p:nvPr userDrawn="1"/>
        </p:nvCxnSpPr>
        <p:spPr>
          <a:xfrm flipH="1">
            <a:off x="431800" y="4961816"/>
            <a:ext cx="5969000" cy="0"/>
          </a:xfrm>
          <a:prstGeom prst="line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451D020-9E11-3B77-4DA3-AA1D5C07D2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975" y="4774384"/>
            <a:ext cx="1874375" cy="3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09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F16973-F273-A8A9-2911-3752050585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2995"/>
          <a:stretch/>
        </p:blipFill>
        <p:spPr>
          <a:xfrm>
            <a:off x="-3" y="-38102"/>
            <a:ext cx="9144003" cy="2480610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2514600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EC97C4-33B6-2D2C-22ED-988346B39921}"/>
              </a:ext>
            </a:extLst>
          </p:cNvPr>
          <p:cNvSpPr/>
          <p:nvPr userDrawn="1"/>
        </p:nvSpPr>
        <p:spPr>
          <a:xfrm>
            <a:off x="0" y="-47429"/>
            <a:ext cx="9144000" cy="2480610"/>
          </a:xfrm>
          <a:prstGeom prst="rect">
            <a:avLst/>
          </a:prstGeom>
          <a:solidFill>
            <a:schemeClr val="dk1">
              <a:alpha val="1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1657351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90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439D74-A5C5-45BD-6CCE-89DC8AFA5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8244" r="-23" b="21107"/>
          <a:stretch/>
        </p:blipFill>
        <p:spPr>
          <a:xfrm>
            <a:off x="0" y="-38102"/>
            <a:ext cx="9143999" cy="248061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8650" y="4767264"/>
            <a:ext cx="7310664" cy="207749"/>
          </a:xfrm>
        </p:spPr>
        <p:txBody>
          <a:bodyPr/>
          <a:lstStyle>
            <a:lvl1pPr algn="l">
              <a:defRPr sz="135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3209925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406267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DC76C2-89C1-BA29-DCFE-7AA282C283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750" y="4774384"/>
            <a:ext cx="1874375" cy="3581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E93581-855C-B064-632D-3ED317D318E5}"/>
              </a:ext>
            </a:extLst>
          </p:cNvPr>
          <p:cNvSpPr/>
          <p:nvPr userDrawn="1"/>
        </p:nvSpPr>
        <p:spPr>
          <a:xfrm>
            <a:off x="6774180" y="2422024"/>
            <a:ext cx="2043050" cy="92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27CB2-6634-0C17-7FF7-844F40908B2C}"/>
              </a:ext>
            </a:extLst>
          </p:cNvPr>
          <p:cNvSpPr/>
          <p:nvPr userDrawn="1"/>
        </p:nvSpPr>
        <p:spPr>
          <a:xfrm>
            <a:off x="8245563" y="2422277"/>
            <a:ext cx="898437" cy="94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6487E-A697-CE72-B143-2DA7F5D9A5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37888" b="25410"/>
          <a:stretch/>
        </p:blipFill>
        <p:spPr>
          <a:xfrm>
            <a:off x="-3" y="-30981"/>
            <a:ext cx="9144003" cy="24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62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481660"/>
            <a:ext cx="2421127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278892"/>
            <a:ext cx="7970520" cy="2602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0551" y="641205"/>
            <a:ext cx="7116536" cy="45402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dirty="0"/>
              <a:t>Algorithms and Computer Programming</a:t>
            </a:r>
            <a:br>
              <a:rPr dirty="0"/>
            </a:br>
            <a:r>
              <a:rPr sz="1900" b="0" i="1" dirty="0">
                <a:solidFill>
                  <a:srgbClr val="000000"/>
                </a:solidFill>
              </a:rPr>
              <a:t>Excel and VBA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Department of Civil and Environmental Engineering, Faculty of Engineering, UGM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August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350" b="1"/>
              <a:t>Pengampu</a:t>
            </a:r>
            <a:r>
              <a:rPr sz="1350"/>
              <a:t>: Department of Civil and Environmental Engineering, UGM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sz="2100" b="1"/>
              <a:t>Meeting 1: </a:t>
            </a:r>
            <a:r>
              <a:rPr sz="2100"/>
              <a:t>Computers and Operating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Course aims, scope, and learning method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Computer history and how an OS works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Binary numbers, bits, and bytes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Computer programs in civil engineering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Script demo: Excel VBA and AutoCAD VBA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Learning 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Describe the course aim and the predict-run-explain learning cycle.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Map input, CPU, memory, storage, output, and the OS.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Convert a simple binary number to decimal.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Distinguish existing applications, programs, and automation scripts.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Learning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Computers and Operating Systems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100-Minute Flow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44168"/>
          <a:ext cx="7818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Minutes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Small product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0-10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Learning contract and civil engineering cases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Opening question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10-22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A concise history of computers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Four broad stages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22-38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Computer components and the 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Processing diagram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38-53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Binary, bits, bytes, rounding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Convert 1101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53-68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Software vs scripts in civil engineering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Use-adapt-build choice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68-82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Excel VBA and AutoCAD VBA demo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Observe input-process-output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</a:rPr>
                        <a:t>82-100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Quiz, discussion, exit ticket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Three core answers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1. Core Concepts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Main aim: computational thinking for civil engineering problems.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Class cycle: </a:t>
            </a:r>
            <a:r>
              <a:rPr sz="1550" b="1"/>
              <a:t>predict</a:t>
            </a:r>
            <a:r>
              <a:rPr sz="1550"/>
              <a:t> the result, </a:t>
            </a:r>
            <a:r>
              <a:rPr sz="1550" b="1"/>
              <a:t>run</a:t>
            </a:r>
            <a:r>
              <a:rPr sz="1550"/>
              <a:t> the example, then </a:t>
            </a:r>
            <a:r>
              <a:rPr sz="1550" b="1"/>
              <a:t>explain</a:t>
            </a:r>
            <a:r>
              <a:rPr sz="1550"/>
              <a:t> why it happens.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The focus is not syntax memorisation; it is problem breakdown and result checking.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Each meeting ends with a small example students can run themselves.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How We Learn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The CPU executes instructions; memory holds active data.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Storage keeps files; input-output devices connect users and the system.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The OS manages files, processes, memory, users, devices, and the interface.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Excel and AutoCAD are applications; VBA is automation inside those applications.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Computer and 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One bit has two states: 0 or 1; eight bits form one byte.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Binary digits use weights 1, 2, 4, 8, 16, and so on.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Example: 1101 = 8 + 4 + 0 + 1 = 13.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Fractional calculations may have tiny rounding differences; engineering checks need tolerance.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Numbers in Computers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Use validated software for high-risk analysis and standard engineering tasks.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Create a small script for repeated, local, easily verifiable work.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 practical route is to use existing software and automate only repetitive parts.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Common risks: wrong units, wrong formulas, and overwritten data.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Software vs Script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2. Short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350" b="1">
                <a:solidFill>
                  <a:srgbClr val="1F497D"/>
                </a:solidFill>
              </a:rPr>
              <a:t>Read from top to bottom: data in, process, then result out.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VBA Script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89888"/>
            <a:ext cx="7955279" cy="2743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Option Explicit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endParaRPr sz="1050">
              <a:solidFill>
                <a:srgbClr val="404040"/>
              </a:solidFill>
            </a:endParaRP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Sub ExcelDemo()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Range("A1").Value = "Length (m)"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Range("B1").Value = 10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Range("A2").Value = "Width (m)"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Range("B2").Value = 2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Range("A3").Value = "Area (m2)"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Range("B3").Value = Range("B1").Value * Range("B2").Value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End Sub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187952"/>
            <a:ext cx="7955279" cy="429768"/>
          </a:xfrm>
          <a:prstGeom prst="roundRect">
            <a:avLst/>
          </a:prstGeom>
          <a:solidFill>
            <a:srgbClr val="FFF6D8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404040"/>
                </a:solidFill>
              </a:rPr>
              <a:t>Observation focus: input, process, output, and data location.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Change length and width, then predict which cell will change.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Mark the input, process, and output on the spreadsheet.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Discuss: when is a formula enough, and when does it deserve a macro?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Class Exercise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Work individually for 6 minutes, then discuss quickly for 7 minutes.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Convert binary 10110 to decimal and show the weight of every digit.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For 500 channel segments every week, choose software, a large application, or a small Excel script. Give two reasons and one risk.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In the Excel demo, identify input, process, output, application, scripting language, and OS.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Short Quiz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concept that is now clear.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part that is still confusing.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civil engineering use case you want to try.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Exit Ticket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 i="1">
                <a:solidFill>
                  <a:srgbClr val="FFFFFF"/>
                </a:solidFill>
              </a:rPr>
              <a:t>Start from a small problem, make the steps clear, then validate the result.</a:t>
            </a:r>
          </a:p>
          <a:p>
            <a:r>
              <a:rPr sz="1300">
                <a:solidFill>
                  <a:srgbClr val="FFFFFF"/>
                </a:solidFill>
              </a:rPr>
              <a:t>- Algorithms and Computer Programming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710</Words>
  <Application>Microsoft Office PowerPoint</Application>
  <PresentationFormat>On-screen Show (16:9)</PresentationFormat>
  <Paragraphs>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Cambria</vt:lpstr>
      <vt:lpstr>Segoe</vt:lpstr>
      <vt:lpstr>Trebuchet MS</vt:lpstr>
      <vt:lpstr>Office Theme</vt:lpstr>
      <vt:lpstr>Algorithms and Computer Programming Excel and VBA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Metode Numerik</dc:title>
  <cp:lastModifiedBy>Vempi Satriya</cp:lastModifiedBy>
  <cp:revision>1</cp:revision>
  <dcterms:created xsi:type="dcterms:W3CDTF">2026-08-22T03:37:35Z</dcterms:created>
  <dcterms:modified xsi:type="dcterms:W3CDTF">2026-08-26T21:59:45Z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2025-05-02T00:00:00Z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2026-08-22T00:00:00Z</vt:filetime>
  </property>
  <property fmtid="{D5CDD505-2E9C-101B-9397-08002B2CF9AE}" pid="6" name="Producer">
    <vt:lpwstr>Microsoft® PowerPoint® for Microsoft 365</vt:lpwstr>
  </property>
</Properties>
</file>